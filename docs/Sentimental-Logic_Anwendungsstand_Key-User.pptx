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56ba05922343a9" /><Relationship Type="http://schemas.openxmlformats.org/officeDocument/2006/relationships/extended-properties" Target="/docProps/app.xml" Id="R49a9f73491d2490c" /><Relationship Type="http://schemas.openxmlformats.org/officeDocument/2006/relationships/officeDocument" Target="/ppt/presentation.xml" Id="R3f3d14016a3840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a19f167bf04269"/>
  </p:sldMasterIdLst>
  <p:notesMasterIdLst>
    <p:notesMasterId xmlns:r="http://schemas.openxmlformats.org/officeDocument/2006/relationships" r:id="R81e4bac0189b474d"/>
  </p:notesMasterIdLst>
  <p:sldIdLst>
    <p:sldId xmlns:r="http://schemas.openxmlformats.org/officeDocument/2006/relationships" id="256" r:id="Rf9db96c6fb8a481b"/>
    <p:sldId xmlns:r="http://schemas.openxmlformats.org/officeDocument/2006/relationships" id="257" r:id="R7b75e2f24a1145e0"/>
    <p:sldId xmlns:r="http://schemas.openxmlformats.org/officeDocument/2006/relationships" id="258" r:id="Rd33099351e804108"/>
    <p:sldId xmlns:r="http://schemas.openxmlformats.org/officeDocument/2006/relationships" id="259" r:id="R14a6e62f0c3a4242"/>
    <p:sldId xmlns:r="http://schemas.openxmlformats.org/officeDocument/2006/relationships" id="260" r:id="Ra8ed078b840547c1"/>
    <p:sldId xmlns:r="http://schemas.openxmlformats.org/officeDocument/2006/relationships" id="261" r:id="R5b37c85a57074892"/>
    <p:sldId xmlns:r="http://schemas.openxmlformats.org/officeDocument/2006/relationships" id="262" r:id="Rb32cc98cd41c4791"/>
    <p:sldId xmlns:r="http://schemas.openxmlformats.org/officeDocument/2006/relationships" id="263" r:id="R2b1e24952a744a0b"/>
    <p:sldId xmlns:r="http://schemas.openxmlformats.org/officeDocument/2006/relationships" id="264" r:id="Rfa9f8770bfaf43a9"/>
    <p:sldId xmlns:r="http://schemas.openxmlformats.org/officeDocument/2006/relationships" id="265" r:id="Red034bca820c47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9cf61c6f944dc1" /><Relationship Type="http://schemas.openxmlformats.org/officeDocument/2006/relationships/slideMaster" Target="/ppt/slideMasters/slideMaster1.xml" Id="R89a19f167bf04269" /><Relationship Type="http://schemas.openxmlformats.org/officeDocument/2006/relationships/notesMaster" Target="/ppt/notesMasters/notesMaster1.xml" Id="R81e4bac0189b474d" /><Relationship Type="http://schemas.openxmlformats.org/officeDocument/2006/relationships/presProps" Target="/ppt/presProps.xml" Id="Rcfff71d26e774614" /><Relationship Type="http://schemas.openxmlformats.org/officeDocument/2006/relationships/tableStyles" Target="/ppt/tableStyles.xml" Id="Rc4078b2ee97c43d6" /><Relationship Type="http://schemas.openxmlformats.org/officeDocument/2006/relationships/slide" Target="/ppt/slides/slide1.xml" Id="Rf9db96c6fb8a481b" /><Relationship Type="http://schemas.openxmlformats.org/officeDocument/2006/relationships/slide" Target="/ppt/slides/slide2.xml" Id="R7b75e2f24a1145e0" /><Relationship Type="http://schemas.openxmlformats.org/officeDocument/2006/relationships/slide" Target="/ppt/slides/slide3.xml" Id="Rd33099351e804108" /><Relationship Type="http://schemas.openxmlformats.org/officeDocument/2006/relationships/slide" Target="/ppt/slides/slide4.xml" Id="R14a6e62f0c3a4242" /><Relationship Type="http://schemas.openxmlformats.org/officeDocument/2006/relationships/slide" Target="/ppt/slides/slide5.xml" Id="Ra8ed078b840547c1" /><Relationship Type="http://schemas.openxmlformats.org/officeDocument/2006/relationships/slide" Target="/ppt/slides/slide6.xml" Id="R5b37c85a57074892" /><Relationship Type="http://schemas.openxmlformats.org/officeDocument/2006/relationships/slide" Target="/ppt/slides/slide7.xml" Id="Rb32cc98cd41c4791" /><Relationship Type="http://schemas.openxmlformats.org/officeDocument/2006/relationships/slide" Target="/ppt/slides/slide8.xml" Id="R2b1e24952a744a0b" /><Relationship Type="http://schemas.openxmlformats.org/officeDocument/2006/relationships/slide" Target="/ppt/slides/slide9.xml" Id="Rfa9f8770bfaf43a9" /><Relationship Type="http://schemas.openxmlformats.org/officeDocument/2006/relationships/slide" Target="/ppt/slides/slide10.xml" Id="Red034bca820c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ee2fc854c54a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516bccc0144451" /><Relationship Type="http://schemas.openxmlformats.org/officeDocument/2006/relationships/notesMaster" Target="/ppt/notesMasters/notesMaster1.xml" Id="R3ebbc39bbae547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8c10179d2c4170" /><Relationship Type="http://schemas.openxmlformats.org/officeDocument/2006/relationships/notesMaster" Target="/ppt/notesMasters/notesMaster1.xml" Id="Rb0015593db7543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fde1c70c794b85" /><Relationship Type="http://schemas.openxmlformats.org/officeDocument/2006/relationships/notesMaster" Target="/ppt/notesMasters/notesMaster1.xml" Id="R70eae2cc4a924e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fff3adb43e4a70" /><Relationship Type="http://schemas.openxmlformats.org/officeDocument/2006/relationships/notesMaster" Target="/ppt/notesMasters/notesMaster1.xml" Id="R9e0c78464abf4a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084ea1fa7e4e29" /><Relationship Type="http://schemas.openxmlformats.org/officeDocument/2006/relationships/notesMaster" Target="/ppt/notesMasters/notesMaster1.xml" Id="Refa0315dcbc448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6d720803474aad" /><Relationship Type="http://schemas.openxmlformats.org/officeDocument/2006/relationships/notesMaster" Target="/ppt/notesMasters/notesMaster1.xml" Id="Rf11d41e061e140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6c1bd475734ec9" /><Relationship Type="http://schemas.openxmlformats.org/officeDocument/2006/relationships/notesMaster" Target="/ppt/notesMasters/notesMaster1.xml" Id="R5df93d7622c749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11c3acb4264f42" /><Relationship Type="http://schemas.openxmlformats.org/officeDocument/2006/relationships/notesMaster" Target="/ppt/notesMasters/notesMaster1.xml" Id="R8e3acdcdc7334b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2ebd8047bb4ec1" /><Relationship Type="http://schemas.openxmlformats.org/officeDocument/2006/relationships/notesMaster" Target="/ppt/notesMasters/notesMaster1.xml" Id="Rfc4c1ced3b8f4c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d24b01d2084606" /><Relationship Type="http://schemas.openxmlformats.org/officeDocument/2006/relationships/notesMaster" Target="/ppt/notesMasters/notesMaster1.xml" Id="R8365daf8df0241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Mit dem Arbeitsalltag beginnen: Die Anwendung ist kein zusätzliches Archiv, sondern die zentrale Arbeitsoberfläche.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Projektquelle: /Users/joserodriguez/Desktop/sentinellogic/src/data/help/dashboard.ts</a:t>
            </a:r>
          </a:p>
          <a:p xmlns:a="http://schemas.openxmlformats.org/drawingml/2006/main">
            <a:r>
              <a:t>- Interne Projektquelle: /Users/joserodriguez/Desktop/sentinellogic/src/data/help/kontakt-detail.ts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vier Bausteine als Orientierung nutzen. Detailfunktionen erst auf den Folgeseiten zeigen.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Projektquelle: /Users/joserodriguez/Desktop/sentinellogic/src/data/release-notes.ts</a:t>
            </a:r>
          </a:p>
          <a:p xmlns:a="http://schemas.openxmlformats.org/drawingml/2006/main">
            <a:r>
              <a:t>- Interne Projektquelle: /Users/joserodriguez/Desktop/sentinellogic/src/data/help/index.ts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 Ablauf als Gesprächsleitfaden verwenden. Der Key User soll sich darin wiederfinden und ergänzen, wo sein tatsächlicher Alltag abweicht.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Projektquelle: /Users/joserodriguez/Desktop/sentinellogic/src/data/help/dashboard.ts</a:t>
            </a:r>
          </a:p>
          <a:p xmlns:a="http://schemas.openxmlformats.org/drawingml/2006/main">
            <a:r>
              <a:t>- Interne Projektquelle: /Users/joserodriguez/Desktop/sentinellogic/src/data/help/aufgaben.ts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Zahlen sind bewusst Demo-Werte. Wichtig ist das Prinzip: Jeder Mitarbeiter sieht den eigenen Arbeitsvorrat; Admins können auf die Team-Sicht wechseln.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Projektquelle: /Users/joserodriguez/Desktop/sentinellogic/src/data/help/dashboard.ts</a:t>
            </a:r>
          </a:p>
          <a:p xmlns:a="http://schemas.openxmlformats.org/drawingml/2006/main">
            <a:r>
              <a:t>- Visualisierung: editierbare, datenschutzsichere Rekonstruktion der aktuellen UI-Struktur; keine Produktivdaten.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Hier die Detailseite als zentrale Arbeitsansicht erklären. Der Testkontakt zeigt bewusst, wie Testdaten in der Live-Umgebung erkennbar bleiben.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Projektquelle: /Users/joserodriguez/Desktop/sentinellogic/src/data/help/kontakt-detail.ts</a:t>
            </a:r>
          </a:p>
          <a:p xmlns:a="http://schemas.openxmlformats.org/drawingml/2006/main">
            <a:r>
              <a:t>- Visualisierung: editierbare, datenschutzsichere Rekonstruktion; ausschließlich fiktive [TEST]-Daten.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 Nutzen gegenüber Chat oder Zuruf betonen: Die Absprache bleibt am Kundenfall auffindbar.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Projektquelle: /Users/joserodriguez/Desktop/sentinellogic/src/data/release-notes.ts (Version 0.9.0)</a:t>
            </a:r>
          </a:p>
          <a:p xmlns:a="http://schemas.openxmlformats.org/drawingml/2006/main">
            <a:r>
              <a:t>- Interne Projektquelle: /Users/joserodriguez/Desktop/sentinellogic/src/data/help/aufgaben.ts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Nicht jede Integration gleich tief erklären. Für den Key User zählt: Woher kommt der Datensatz, wo wird gearbeitet und wo landet das Ergebnis?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Projektquelle: /Users/joserodriguez/Desktop/sentinellogic/src/app/sync/page.tsx</a:t>
            </a:r>
          </a:p>
          <a:p xmlns:a="http://schemas.openxmlformats.org/drawingml/2006/main">
            <a:r>
              <a:t>- Interne Projektquelle: /Users/joserodriguez/Desktop/sentinellogic/src/data/help/kontakt-detail.ts</a:t>
            </a:r>
          </a:p>
          <a:p xmlns:a="http://schemas.openxmlformats.org/drawingml/2006/main">
            <a:r>
              <a:t>- Interne Projektquelle: /Users/joserodriguez/Desktop/sentinellogic/AGENTS.md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Transparent formulieren: Rot bedeutet aktuell Pipeline-Blockade, nicht automatisch defekte Anwendung. Nach Korrektur der Zugriffskonfiguration muss der komplette Katalog erneut laufen.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Actions, letzter erfolgreicher Lauf: https://github.com/mgadmin2026-create/sentinellogic/actions/runs/29765948566</a:t>
            </a:r>
          </a:p>
          <a:p xmlns:a="http://schemas.openxmlformats.org/drawingml/2006/main">
            <a:r>
              <a:t>- GitHub Actions, aktueller blockierter Lauf: https://github.com/mgadmin2026-create/sentinellogic/actions/runs/30308570976</a:t>
            </a:r>
          </a:p>
          <a:p xmlns:a="http://schemas.openxmlformats.org/drawingml/2006/main">
            <a:r>
              <a:t>- Interne Projektquelle: /Users/joserodriguez/Desktop/sentinellogic/src/middleware.ts</a:t>
            </a:r>
          </a:p>
          <a:p xmlns:a="http://schemas.openxmlformats.org/drawingml/2006/main">
            <a:r>
              <a:t>- Interne Projektquelle: /Users/joserodriguez/Desktop/sentinellogic/scripts/load-test-case-control.ts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 Key User aktiv nach seinen wichtigsten drei Arbeitsfällen fragen. Diese werden anschließend als priorisierte Regressionstests dokumentiert.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Projektquelle: /Users/joserodriguez/Desktop/sentinellogic/AGENTS.md</a:t>
            </a:r>
          </a:p>
          <a:p xmlns:a="http://schemas.openxmlformats.org/drawingml/2006/main">
            <a:r>
              <a:t>- Vorgehensvorschlag aus dem aktuellen Projektkontext; keine externe Quelle.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Mit der Leitfrage in die Diskussion gehen. Nicht jede Idee sofort zusagen: zunächst Nutzen, Häufigkeit und Risiko bewerten.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Projektquelle: /Users/joserodriguez/Desktop/sentinellogic/AGENTS.md</a:t>
            </a:r>
          </a:p>
          <a:p xmlns:a="http://schemas.openxmlformats.org/drawingml/2006/main">
            <a:r>
              <a:t>- Zusammenfassung des in dieser Präsentation dargestellten Projektstands.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ef228d21c4b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b4f0d4dce74e8f" /><Relationship Type="http://schemas.openxmlformats.org/officeDocument/2006/relationships/slideLayout" Target="/ppt/slideLayouts/slideLayout1.xml" Id="R268a1eef86fc4c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8a1eef86fc4c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a91ad1221420e" /><Relationship Type="http://schemas.openxmlformats.org/officeDocument/2006/relationships/notesSlide" Target="/ppt/notesSlides/notesSlide1.xml" Id="R78083e074b6547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978b9e2e44baf" /><Relationship Type="http://schemas.openxmlformats.org/officeDocument/2006/relationships/notesSlide" Target="/ppt/notesSlides/notesSlide2.xml" Id="R2ae40a5dd92c4f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9a95216a44f55" /><Relationship Type="http://schemas.openxmlformats.org/officeDocument/2006/relationships/notesSlide" Target="/ppt/notesSlides/notesSlide3.xml" Id="R2dca6f3f4caa44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59c6e6fa84c74" /><Relationship Type="http://schemas.openxmlformats.org/officeDocument/2006/relationships/notesSlide" Target="/ppt/notesSlides/notesSlide4.xml" Id="R0b8a6fd035e143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b2c85e8864ac4" /><Relationship Type="http://schemas.openxmlformats.org/officeDocument/2006/relationships/notesSlide" Target="/ppt/notesSlides/notesSlide5.xml" Id="Rf5f598f6a3a949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ccc00bd864b8c" /><Relationship Type="http://schemas.openxmlformats.org/officeDocument/2006/relationships/notesSlide" Target="/ppt/notesSlides/notesSlide6.xml" Id="R9947ae402f8e40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1fa23c41a4696" /><Relationship Type="http://schemas.openxmlformats.org/officeDocument/2006/relationships/notesSlide" Target="/ppt/notesSlides/notesSlide7.xml" Id="Refeded9e855e45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23430fc2f4b93" /><Relationship Type="http://schemas.openxmlformats.org/officeDocument/2006/relationships/notesSlide" Target="/ppt/notesSlides/notesSlide8.xml" Id="R7c9d38a0a1ce4a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b8299fea14bbc" /><Relationship Type="http://schemas.openxmlformats.org/officeDocument/2006/relationships/notesSlide" Target="/ppt/notesSlides/notesSlide9.xml" Id="R4367adc0d79346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6ba428d784e5b" /><Relationship Type="http://schemas.openxmlformats.org/officeDocument/2006/relationships/notesSlide" Target="/ppt/notesSlides/notesSlide10.xml" Id="Rb7db923c983642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EE2FC4-8FC1-424F-A0FE-0CCCE6D0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8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E5806-8986-4E7D-9898-8552B958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KEY-USER-EINFÜHRUNG · JULI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4A004-CFE9-4A76-A109-A6DC9CF3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Sentimental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0BD88-7F8A-4347-AC46-5077E73F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</a:defRPr>
            </a:pPr>
            <a:r>
              <a:rPr sz="1875" b="0">
                <a:solidFill>
                  <a:srgbClr val="CBD5E1"/>
                </a:solidFill>
              </a:rPr>
              <a:t>Ihr digitaler Arbeitsplatz im Versicherungsvertrieb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51FA3-7FA4-4371-8CF8-11F375C2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4A3B8"/>
                </a:solidFill>
              </a:defRPr>
            </a:pPr>
            <a:r>
              <a:rPr sz="1425" b="0">
                <a:solidFill>
                  <a:srgbClr val="94A3B8"/>
                </a:solidFill>
              </a:rPr>
              <a:t>Kontakte priorisieren. Vorgänge bearbeiten. Im Team den Überblick behalten.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D14C1-5276-43B2-9A2A-E2D3748F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6750"/>
            <a:ext cx="4286250" cy="5524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3E74F-05AA-41E2-8863-0CC6BC0E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66800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F1961-34DD-4FBA-AEF3-555AA267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11442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9F9A"/>
                </a:solidFill>
              </a:defRPr>
            </a:pPr>
            <a:r>
              <a:rPr sz="900" b="1">
                <a:solidFill>
                  <a:srgbClr val="0E9F9A"/>
                </a:solidFill>
              </a:rPr>
              <a:t>DAS VERSPRECHEN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D2127-861E-406E-8631-40523C2A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38300"/>
            <a:ext cx="321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Ein System,</a:t>
            </a:r>
          </a:p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ein Arbeitsfluss.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1BA65-2668-46C8-8092-FF5AC1BF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8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7F6AE-DDB3-47B2-AE89-5D5F3C0E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95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2C9B1-08C3-4C69-A339-49B13582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86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Heute sehen, was wichtig 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93DB9-687B-407B-AB5E-F153A703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766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5B423-6F17-46F8-A8B2-AF6DC5E6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242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8DCAE-1F1D-4877-8169-DFD77AEA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Alle Kontaktdaten an einem 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3ACE8-9864-45BB-B56B-C42C5444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0530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A10D2-76B8-4CCF-A666-BBFA7D5F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52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E2941-DA00-4470-8DCA-080BDBD6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Aufgaben und Absprachen nachvollziehbar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6427E-DAA3-4026-AAB3-F2DE7BF1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339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56A16-ABC5-4380-9188-EAD4B28C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815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A4975-217D-4B8A-AC74-59871C56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72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Dokumente und Kommunikation im Vorgang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2B9C1-437C-4B28-AD15-F2C672D6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SENTIMENTAL LOGIC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0ED41-0FC7-4762-860B-7864068A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2770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79FA7A-3909-4100-B0F7-EFF8006A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A"/>
                </a:solidFill>
              </a:defRPr>
            </a:pPr>
            <a:r>
              <a:rPr sz="825" b="1">
                <a:solidFill>
                  <a:srgbClr val="0E9F9A"/>
                </a:solidFill>
              </a:rPr>
              <a:t>WAS HEUTE SCHON TRÄGT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1F2B0-7883-4F97-A740-9EA92C9E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Vier Bausteine für den täglichen Vertrieb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46FA0-260D-4C87-818C-F50536A9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Der aktuelle Stand ist auf die wiederkehrenden Aufgaben des Teams ausgerichtet.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C61BD-37F3-4B95-A48B-07B0E902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SENTIMENTAL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94C12-6816-4563-9B3A-34549C69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ANWENDUNGSSTAND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B37E9-07CA-4C92-8323-BF663899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4DA7F-2A81-4574-A5FF-2968B69D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552700" cy="35052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6243E-A954-4410-89F3-6C3B58E4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438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8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94B17-B47B-445B-A8C2-F8650CCA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CC908-6762-4844-946F-314B9FD9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Priorisieren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B344A-114E-4746-A4D0-B53DDF38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076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Persönliches Dashboard mit fälligen Aufgaben, Kontakten und Pipeline.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26458-7CB6-4CDF-8464-15F89BD7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02650-AEB9-4A9F-A4DD-12C086D0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Fokus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C3B69-7B23-401C-A7E3-6E8FF6AF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52700" cy="35052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72D83-8355-4447-9F22-B230BC93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90775"/>
            <a:ext cx="438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724881-2513-44B2-BA8B-888F3AA8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384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1FAF0-7150-4F95-A137-A1778EBB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384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Bearbeiten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E8D2C-63C5-48B2-8F0A-52E59C63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81400"/>
            <a:ext cx="2076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Zentrale Kontaktdetailseite mit Status, Prozess, Daten und Historie.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1D569-2B03-457D-9D07-D983F29B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57775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37FFB-B030-4D58-B667-305042B5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76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Vorgang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E6A72-75EE-401F-9AE2-A7F9C971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2552700" cy="35052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1D3D8-CE0C-41A6-B2D4-C9CD0B0B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90775"/>
            <a:ext cx="438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65788-B17C-4736-BF53-89C4EED7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69B018-8A5C-4D2F-A899-25A90BF0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384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Zusammenarbeiten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61B16-9601-4DB7-9383-61601F7D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81400"/>
            <a:ext cx="2076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Aufgaben, Kommentare, @-Erwähnungen und nachvollziehbare Aktivitäten.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B0D8A-B991-49DB-89B2-F0F54D46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57775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81DC36-A17C-4A91-913E-E08C86EF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76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Team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986E8E-3C64-4BE3-8274-93685B58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43125"/>
            <a:ext cx="2552700" cy="35052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865C18-28CA-45D3-8ECE-C0E66D66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90775"/>
            <a:ext cx="438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C68F09-7DB5-4923-94F6-56C0AA87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384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A8EF4-88D8-4919-99E4-2F5DFEB6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384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Dokumentieren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866CCA-E9BF-41CD-83A8-21CEACF7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81400"/>
            <a:ext cx="2076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Dokumente, E-Mails, Vorlagen und Anhänge bleiben am Kontakt.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46658F-282A-4DBF-942D-45B49717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57775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1E7DCE-67A2-4072-B053-DBBA7DD6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76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Ablage</a:t>
            </a:r>
          </a:p>
        </p:txBody>
      </p:sp>
    </p:spTree>
    <p:extLst>
      <p:ext uri="{BB962C8B-B14F-4D97-AF65-F5344CB8AC3E}">
        <p14:creationId xmlns:p14="http://schemas.microsoft.com/office/powerpoint/2010/main" val="256220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63917F-C363-4491-817B-59C5F26D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A"/>
                </a:solidFill>
              </a:defRPr>
            </a:pPr>
            <a:r>
              <a:rPr sz="825" b="1">
                <a:solidFill>
                  <a:srgbClr val="0E9F9A"/>
                </a:solidFill>
              </a:rPr>
              <a:t>EIN TYPISCHER ARBEITSTAG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8A09A-2F59-427A-A8BC-A04C97D1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Vom Tagesfokus zur sauberen Wiedervorlage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A32D0-B488-4AEA-B85A-ACE34BDD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Der Arbeitsfluss führt immer wieder zum nächsten konkreten Schritt.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D0B06-7AC9-4807-A9A8-55DA0327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SENTIMENTAL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D144C-29F2-4F4D-9AFD-F5B83DBE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ANWENDUNGSSTAND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75997-84B2-4B04-BD95-C5F94DB7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EA235-C38A-4B23-B8D0-5803F9D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10001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B20B1-B657-4FEF-9945-D3907DE8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723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8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697A9-9B21-4D6A-9D0D-FDF9438B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08:30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12CE4-7431-4B92-9C8A-4DDB76A6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Dashboard öffnen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75B56-5B68-44C1-ACB2-BFD2FF2E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Überfälliges und heute Fälliges zuerst.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D8943-A3B0-4D28-BDFD-DF41A6C6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DD89C-CD3C-40E3-A145-F25EB326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54BEE-F388-4B46-A4CF-38B18DDE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B3E27-4036-4D6D-A9A8-72839EBE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9A"/>
                </a:solidFill>
              </a:defRPr>
            </a:pPr>
            <a:r>
              <a:rPr sz="975" b="1">
                <a:solidFill>
                  <a:srgbClr val="0E9F9A"/>
                </a:solidFill>
              </a:rPr>
              <a:t>KPI · Fokus ·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0F066-35EB-44FE-A38E-752FC521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Orientieren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8A0F9-C7CF-4DFC-9527-B36E3A38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47875"/>
            <a:ext cx="723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E14D6-B509-4908-BF0C-19829383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09:00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1BB7E-9D9D-49F3-9128-F2F69246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050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Kontakt bearbeiten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E8EB6-68B5-4B2E-8610-B60671F6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241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Daten, Status und Prozessschritt aktualisieren.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2E8E7-9FE3-4F7A-B64D-4A48666A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147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32C54-384C-472A-9F4B-BD55A46A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718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43448-FD07-4293-A66E-7D184FCB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33825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AB10C2-2385-49B6-B016-F7B6B6EF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005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9A"/>
                </a:solidFill>
              </a:defRPr>
            </a:pPr>
            <a:r>
              <a:rPr sz="975" b="1">
                <a:solidFill>
                  <a:srgbClr val="0E9F9A"/>
                </a:solidFill>
              </a:rPr>
              <a:t>Status · Prozess · Notiz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322F2-BA29-4936-83E0-2ADE2A14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Entscheiden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F3DAE4-F8AC-4012-8A76-AD1482BA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47875"/>
            <a:ext cx="723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6DE5D-5FCD-4696-81AA-733E6390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11:00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1547E0-6296-401B-BB02-28A0CA7D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050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Kommunikation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0D2533-D8F8-4402-9B1B-C5C96CF0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241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Anruf, E-Mail oder interne Rückfrage dokumentieren.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378C13-72BF-42ED-8B3E-5A105408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4ECE3F-CABE-4AA8-A712-F1891F84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18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872EB2-592B-4356-9502-9190694C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33825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1F7A44-1961-4A2F-AB35-FA0B41A3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005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9A"/>
                </a:solidFill>
              </a:defRPr>
            </a:pPr>
            <a:r>
              <a:rPr sz="975" b="1">
                <a:solidFill>
                  <a:srgbClr val="0E9F9A"/>
                </a:solidFill>
              </a:rPr>
              <a:t>Telefon · E-Mail · Kommentar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76EAB0-ABEA-4453-A530-E7184E27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Festhalten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A88EE7-1F51-4BD6-BB64-0E055579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47875"/>
            <a:ext cx="723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447B85-471C-406F-9729-0C2C36BA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16:30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BC2814-0734-4AFA-88E2-2AEF913C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050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Nächsten Schritt sichern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10B4EC-F163-47F1-84B7-35EEE788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241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Aufgabe anlegen und Fälligkeit festlegen.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69A5EF-CAE4-47A1-B04F-336CA409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147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5ECDD4-771A-47DE-BC5B-ECB8BA4D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718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8E2FAD-0ED6-4124-A2DC-28B571A2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33825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F717C9-34A8-4530-93EB-2E207071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005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9A"/>
                </a:solidFill>
              </a:defRPr>
            </a:pPr>
            <a:r>
              <a:rPr sz="975" b="1">
                <a:solidFill>
                  <a:srgbClr val="0E9F9A"/>
                </a:solidFill>
              </a:rPr>
              <a:t>Aufgabe · Termin · Zuständigkeit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D72D21-30D5-47D0-A2E2-838D3AE5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72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Verbindlich machen</a:t>
            </a:r>
          </a:p>
        </p:txBody>
      </p:sp>
    </p:spTree>
    <p:extLst>
      <p:ext uri="{BB962C8B-B14F-4D97-AF65-F5344CB8AC3E}">
        <p14:creationId xmlns:p14="http://schemas.microsoft.com/office/powerpoint/2010/main" val="1692490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72453D9-0586-4371-A7F1-8534D798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A"/>
                </a:solidFill>
              </a:defRPr>
            </a:pPr>
            <a:r>
              <a:rPr sz="825" b="1">
                <a:solidFill>
                  <a:srgbClr val="0E9F9A"/>
                </a:solidFill>
              </a:rPr>
              <a:t>STARTPUNKT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E968F-B71B-4699-9B97-46B68DC6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Das persönliche Dashboard bündelt den Tagesfokus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9BA34-4D8E-4057-B8F7-6A9375BB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Eine rollenbezogene Sicht auf Aufgaben, Kontakte, Aktivitäten und Pipeline.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D7F33-336E-41D9-B47F-A70DD8BB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SENTIMENTAL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7D22E-6873-4762-8F4C-EDD4A10C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ANWENDUNGSSTAND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3CA1F-B862-48DB-BD57-3E15386F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309AF-00BC-4DEA-AACE-68F8E1E2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1252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30D33-1869-4DD1-B321-7A0F2EC2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714500" cy="3905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081AD-5BB2-462A-986B-790510AF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FF63"/>
                </a:solidFill>
              </a:defRPr>
            </a:pPr>
            <a:r>
              <a:rPr sz="1500" b="1">
                <a:solidFill>
                  <a:srgbClr val="D8FF63"/>
                </a:solidFill>
              </a:rPr>
              <a:t>SL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3C6E9-7E31-47CB-B608-4A7B8A90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Sentimental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3A2FB-8A76-41D1-BA05-22682BD7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390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3814D-C573-4544-97DB-4178ED0E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ADD10-4928-4680-8C67-73CB876E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194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Kontakte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7ABD8-9A05-42E6-ABA9-5608E359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Aufgaben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93EEA-A7A3-4852-9F65-945688E9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Kalender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6C8AE-F5D9-461B-A20C-CDA50F93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Dokumente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4FFA2-8580-44FF-A4D2-B83EE8D3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47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Guten Morgen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1EAAC-3D9C-41DF-9CDE-F33F6223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09800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4E4BE-7CC1-4DFF-8676-F4647DE5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5742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9F9A"/>
                </a:solidFill>
              </a:defRPr>
            </a:pPr>
            <a:r>
              <a:rPr sz="900" b="1">
                <a:solidFill>
                  <a:srgbClr val="0E9F9A"/>
                </a:solidFill>
              </a:rPr>
              <a:t>MEINE ANSICHT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826A9-E277-4092-B759-665DD40F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14625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86717-CF7B-4FF3-8A60-D549E8FF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479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6B38F-7A64-47AB-AEA0-52DB6DEA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908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Meine Kontakte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AE61F-25FE-46B7-A301-D295161B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EE24E-7F52-4479-933D-CABDEF1C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479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5F"/>
                </a:solidFill>
              </a:defRPr>
            </a:pPr>
            <a:r>
              <a:rPr sz="1800" b="1">
                <a:solidFill>
                  <a:srgbClr val="FF6B5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A0FF7A-03EA-4340-9B81-92D02CF8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908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Überfällig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8778A-69D9-482C-86BE-FA97279A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8E38CD-AE97-47AC-A2B8-B951F6D0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479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3AFD35-206C-4793-B09D-1FEC4EF7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908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Heute fällig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92EDBD-0C62-46EB-9FD1-2C926722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5D3AFE-58A1-4E71-9CFC-90B6BA06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479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38 %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91C798-4845-40F5-8508-9A582A6F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908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Abschlussquote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187A2F-CB14-4E74-958B-8B77C9A3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33800"/>
            <a:ext cx="40957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262AB3-D3F0-4AF1-BC42-00B76951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05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Heute im Fokus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21F699-D810-45A1-8282-09F12254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76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F05966-D756-4E8E-9E89-587A96C8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910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220"/>
                </a:solidFill>
              </a:defRPr>
            </a:pPr>
            <a:r>
              <a:rPr sz="975" b="0">
                <a:solidFill>
                  <a:srgbClr val="0B1220"/>
                </a:solidFill>
              </a:rPr>
              <a:t>Rückruf · [TEST] Musterkunde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F70054-7FB4-4313-B5DD-ED51E36B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09:30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914AD9-F9C4-472D-8356-F2B01A60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57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7DE38A-69C7-4F5C-88DB-3ECE14D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720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220"/>
                </a:solidFill>
              </a:defRPr>
            </a:pPr>
            <a:r>
              <a:rPr sz="975" b="0">
                <a:solidFill>
                  <a:srgbClr val="0B1220"/>
                </a:solidFill>
              </a:rPr>
              <a:t>Unterlagen prüfen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C649D8-D4D4-4E3E-83EA-E8BC7E13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11:00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097DFD-41EA-406C-BF22-2FC2BBA1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38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E5B94F-2DA2-4204-B4D1-C92A97EC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530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220"/>
                </a:solidFill>
              </a:defRPr>
            </a:pPr>
            <a:r>
              <a:rPr sz="975" b="0">
                <a:solidFill>
                  <a:srgbClr val="0B1220"/>
                </a:solidFill>
              </a:rPr>
              <a:t>Angebot nachfassen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6E5420-139B-4B11-AEA7-B9A020DC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15:30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A10F25-BDF3-4F11-B1D8-BC203574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44196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5B5B26-16E4-46A6-A81C-A7122065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05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Meine Pipeline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C863A0-C171-4868-9BC6-E2A9C113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57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Lead kommt rein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580D8A-EA6C-4428-8945-2A2A967A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0530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335263-36A4-4073-88A9-73A98435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05300"/>
            <a:ext cx="1702689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E85219-7E72-45CC-80B1-FA51A995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52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Daten werden eingeholt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860BE9-F66E-47CC-8DD2-D4565D1F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00575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832ADF-F895-453D-B8A1-70195E6C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00575"/>
            <a:ext cx="1204341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0A3ECE-1423-427F-A8D6-E0E541D8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482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Angebote senden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D8E9C5-066E-4B6A-A6B8-51C0D2D8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9585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EB392E-5F80-4C5B-858B-5024D531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95850"/>
            <a:ext cx="872109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29F61A-68C3-4F21-9520-074D2FCA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43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Nachbereitung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5C36BE-86AA-4CA2-A807-5F2EA99F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1125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318DE9-DF3E-4CC0-9EAE-B7893E4B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1125"/>
            <a:ext cx="498348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8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95521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D1FBF3-F0B2-4108-B5B3-2B0883E1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A"/>
                </a:solidFill>
              </a:defRPr>
            </a:pPr>
            <a:r>
              <a:rPr sz="825" b="1">
                <a:solidFill>
                  <a:srgbClr val="0E9F9A"/>
                </a:solidFill>
              </a:rPr>
              <a:t>ZENTRALE ARBEITSANSICHT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A29AF-A730-4373-B984-ACDD04CF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Ein Kontakt, ein vollständiger Vorgang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D3AC5-24D0-4634-956C-3E40F244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Status, Prozess, Kommunikation und nächste Aufgabe bleiben zusammen.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A5EEC-1582-462E-A448-B6EE3FE0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SENTIMENTAL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D31CA-C92A-447E-AF46-C694C021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ANWENDUNGSSTAND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4ADCD-04D0-4824-BA88-C54DB091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984C7-841A-45B1-93E5-5A03B7AD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11252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6C75A-95A7-4723-BCB0-DD19A911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[TEST] Musterkunde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F41FF-6752-451C-BF13-DB2B2CD3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114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0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5FD03-EB84-440D-8208-55429A0C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A76B"/>
                </a:solidFill>
              </a:defRPr>
            </a:pPr>
            <a:r>
              <a:rPr sz="900" b="1">
                <a:solidFill>
                  <a:srgbClr val="20A76B"/>
                </a:solidFill>
              </a:rPr>
              <a:t>QUALIFIZIERT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50C4E-69C7-4F2F-AFFE-89F5078E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muster@test.local  ·  Muster GmbH  ·  Zuständig: Key 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7CE19-7932-4195-B2B7-877AF7EF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838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5D97D-329A-4050-9CB2-3B158375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ANRUFEN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32902-EDEB-486F-B3AE-92F0A14B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38375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58BDB-767C-4B86-B546-C1FFF817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86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78FF"/>
                </a:solidFill>
              </a:defRPr>
            </a:pPr>
            <a:r>
              <a:rPr sz="900" b="1">
                <a:solidFill>
                  <a:srgbClr val="4F78FF"/>
                </a:solidFill>
              </a:rPr>
              <a:t>E-MAIL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FF81B-9DCA-441F-845F-7AD3652F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71B90-C309-4B1E-B796-751FCCA7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860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BEARBEITEN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2E648-C5FC-41B4-B748-7B4622D6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Vertriebsprozess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6815D-32D4-4576-A385-1673C6CC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7239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906C27-F5D0-4FE4-BDC4-685CB269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D2ED2-7E2A-4EF8-9D16-DC562B4E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15C9E-2423-49DA-B0B0-5845F9A8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81375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F2B2D-39C1-48FC-B35D-EC29F253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480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3BA88-0097-4150-A0D9-BA9C1AE3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81375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CB9309-2355-45ED-9693-4F1543EB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9DF17F-73E4-405B-8631-1C446605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81375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FDABDA-B688-44FB-A014-48EE281D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744EED-D2A4-4535-81EF-DE067928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81375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88359-85E2-43D7-9259-8BD7FE35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7A77DA-8772-4FC0-8C8C-0DA60E06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E9F9A"/>
                </a:solidFill>
              </a:defRPr>
            </a:pPr>
            <a:r>
              <a:rPr sz="750" b="1">
                <a:solidFill>
                  <a:srgbClr val="0E9F9A"/>
                </a:solidFill>
              </a:rPr>
              <a:t>Lead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2D8AE4-B524-4DC8-B514-EE09086E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528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E9F9A"/>
                </a:solidFill>
              </a:defRPr>
            </a:pPr>
            <a:r>
              <a:rPr sz="750" b="1">
                <a:solidFill>
                  <a:srgbClr val="0E9F9A"/>
                </a:solidFill>
              </a:rPr>
              <a:t>Kontakt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AEC148-6AE9-4B62-921A-D311F1EA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E9F9A"/>
                </a:solidFill>
              </a:defRPr>
            </a:pPr>
            <a:r>
              <a:rPr sz="750" b="1">
                <a:solidFill>
                  <a:srgbClr val="0E9F9A"/>
                </a:solidFill>
              </a:rPr>
              <a:t>Daten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C03F8C-301C-4EE4-8D23-596FFBD1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528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Policen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6175AF-BA33-4351-B087-AF6641D9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528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Angebot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041006-ADB3-451A-9FE9-5CBA1F75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714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7CE284-C03E-4608-9BC0-3A3B1898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672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Kontakt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5B78C6-A4D7-41E0-A7E6-41454C77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Mobil · Adresse · Typ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06BD00-FAC7-4962-8D79-C22C3F84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A"/>
                </a:solidFill>
              </a:defRPr>
            </a:pPr>
            <a:r>
              <a:rPr sz="825" b="1">
                <a:solidFill>
                  <a:srgbClr val="0E9F9A"/>
                </a:solidFill>
              </a:rPr>
              <a:t>Öffnen 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81EE93-B3AB-484B-9AB0-D0A70BF0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86250"/>
            <a:ext cx="1714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4911C3-D2E7-483D-9E3C-A35797A5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672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Unternehmen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29B6BC-159D-4F85-89C4-734C5F8E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1012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Branche · Rechtsform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805F92-9A36-4AC4-B75B-D6B2C70A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197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A"/>
                </a:solidFill>
              </a:defRPr>
            </a:pPr>
            <a:r>
              <a:rPr sz="825" b="1">
                <a:solidFill>
                  <a:srgbClr val="0E9F9A"/>
                </a:solidFill>
              </a:rPr>
              <a:t>Öffnen 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0C00C5-59BD-424E-9725-C91595FD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1714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FD344C-2B38-49E3-91DB-5E09EF41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672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Versicherung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911D80-EC30-4C00-8D87-7E797799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1012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Sparte · Verträge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D8D884-7CB0-44B6-A8C7-5D544BD8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197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A"/>
                </a:solidFill>
              </a:defRPr>
            </a:pPr>
            <a:r>
              <a:rPr sz="825" b="1">
                <a:solidFill>
                  <a:srgbClr val="0E9F9A"/>
                </a:solidFill>
              </a:rPr>
              <a:t>Öffnen 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DF2777-4EAE-4AC7-9173-5625985F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1714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164D28-DC4D-4D22-A802-1DF70039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672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Dokumente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DB9D96-59F8-43B2-B9ED-D4E6337A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1012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Ablage · Upload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F0DE2C-33C3-46F8-BF67-3F97387E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97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A"/>
                </a:solidFill>
              </a:defRPr>
            </a:pPr>
            <a:r>
              <a:rPr sz="825" b="1">
                <a:solidFill>
                  <a:srgbClr val="0E9F9A"/>
                </a:solidFill>
              </a:rPr>
              <a:t>Öffnen 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3490CD-31B3-4DB1-8C77-1B1F79AA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274320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AF54A8-CDBD-4C47-86FA-33FEB2B9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95650"/>
            <a:ext cx="13906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8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5FBD89-325C-4F5E-9995-ED5D34ED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432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NÄCHSTE AUFGABE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464483-DCB7-4329-AC92-5E87A284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909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Angebot telefonisch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nachfassen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5D37BE-E856-4006-B811-381B5644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24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Fällig morgen · 10:00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39E8BC-DB5F-4647-8A87-E482D6DF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33950"/>
            <a:ext cx="2038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CC919F-5755-459F-BEF8-27229CB9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81575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ALS ERLEDIGT MARKIEREN</a:t>
            </a:r>
          </a:p>
        </p:txBody>
      </p:sp>
    </p:spTree>
    <p:extLst>
      <p:ext uri="{BB962C8B-B14F-4D97-AF65-F5344CB8AC3E}">
        <p14:creationId xmlns:p14="http://schemas.microsoft.com/office/powerpoint/2010/main" val="13860025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E8D99C-CA60-4C72-83C3-19199A72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A"/>
                </a:solidFill>
              </a:defRPr>
            </a:pPr>
            <a:r>
              <a:rPr sz="825" b="1">
                <a:solidFill>
                  <a:srgbClr val="0E9F9A"/>
                </a:solidFill>
              </a:rPr>
              <a:t>TEAMARBEIT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220BC-0B58-4622-A332-5ABB080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Aufgaben und Absprachen bleiben am Vorgang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C8F06-FD05-4D35-92A6-3257E341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Weniger Rückfragen außerhalb des Systems, mehr nachvollziehbarer Kontext.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10B73-457C-419A-AB48-B5C36A40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SENTIMENTAL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C5CCF-1A8B-4461-9E9B-C22C2FC7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ANWENDUNGSSTAND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1A03D-0EAF-4515-9080-014F9D36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C14C1-75E0-4303-8CB9-67AE5110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480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57059-2FE6-4E6A-81CA-45390322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8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AE6EE-B3F8-465B-9D87-1024DA12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AUFGABE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3DC0E-01E2-4009-B7B2-4D461CED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Verantwortung klären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0452D-2119-42C6-9419-050A3CA6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Titel, Priorität, Fälligkeit und zuständige Person festlegen.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64B2F-EC6B-4CF9-AE4A-7E8E6AA1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4480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9E03D-1CA2-441F-AE34-8D048B68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114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CB6DD-5037-4D9B-B352-550985BB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KOMMENTAR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5D5D7-533E-4A38-89ED-66F0BE4F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Kontext teilen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4D43F-CC3D-46CE-B121-88CA7295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Interne Notiz direkt an Kontakt oder Aufgabe ergänzen.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9B3A5-83D8-431E-9763-CECCA37D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4480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746EF-3313-47CB-A6D3-389D21F4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114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FCA3B-1808-4DE8-B92C-AF6D1CC6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907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@-ERWÄHNUNG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0024F-F88B-4B7B-8597-84DB6A43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Gezielt übergeben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134C03-A80F-491A-8ACD-B47E9423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Teammitglied informieren; ungelesene Hinweise zentral sehen.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F7EDA-29EF-4EB4-804C-1E6DA46E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0877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27ECD-13EC-4303-A614-CEDF095C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FF63"/>
                </a:solidFill>
              </a:defRPr>
            </a:pPr>
            <a:r>
              <a:rPr sz="975" b="1">
                <a:solidFill>
                  <a:srgbClr val="D8FF63"/>
                </a:solidFill>
              </a:rPr>
              <a:t>Beispiel aus dem Arbeitsfluss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71F2E-6A28-4433-9A7F-1D5EBB5D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„@Key User – bitte die fehlenden Unterlagen prüfen. Danach Angebot versenden.“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4F455-DACD-4C48-8C77-A24ADDE3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14900"/>
            <a:ext cx="15621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8EC253-AE5E-49EB-B5DF-03360E03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6252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DATEI ANHÄNGEN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C43BFA-94E1-487E-9191-C4C33C67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6257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</a:defRPr>
            </a:pPr>
            <a:r>
              <a:rPr sz="900" b="0">
                <a:solidFill>
                  <a:srgbClr val="CBD5E1"/>
                </a:solidFill>
              </a:rPr>
              <a:t>→ automatisch am Kontakt dokumentiert</a:t>
            </a:r>
          </a:p>
        </p:txBody>
      </p:sp>
    </p:spTree>
    <p:extLst>
      <p:ext uri="{BB962C8B-B14F-4D97-AF65-F5344CB8AC3E}">
        <p14:creationId xmlns:p14="http://schemas.microsoft.com/office/powerpoint/2010/main" val="1029458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1EA8DA-1E3C-40BB-98AB-48939A6C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A"/>
                </a:solidFill>
              </a:defRPr>
            </a:pPr>
            <a:r>
              <a:rPr sz="825" b="1">
                <a:solidFill>
                  <a:srgbClr val="0E9F9A"/>
                </a:solidFill>
              </a:rPr>
              <a:t>VERNETZTER ARBEITSFLUSS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8B36A-AD8C-40C4-BB1E-7B49783D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Informationen laufen in der Kontaktakte zusammen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0F868-857D-4B24-8A20-71C43355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Import, Kommunikation und Ablage werden über einen gemeinsamen Vorgang verbunden.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66A7E-D727-4759-8348-F2882D8E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SENTIMENTAL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78AB4-5805-41BD-95A5-84A91612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ANWENDUNGSSTAND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B8007-BE07-4BA6-A52B-68CB5680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0A5FF-D744-4ACE-800E-C6F4493A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2381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B7A64-0F4A-4B0E-B588-A5C25E5C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Facebook Leads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04C6A-F335-485B-B4ED-F34A7C67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14575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0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9A470-28E0-452D-8745-4E1314C3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622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A76B"/>
                </a:solidFill>
              </a:defRPr>
            </a:pPr>
            <a:r>
              <a:rPr sz="900" b="1">
                <a:solidFill>
                  <a:srgbClr val="20A76B"/>
                </a:solidFill>
              </a:rPr>
              <a:t>VERBUNDEN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0F6C6-4376-4F3C-A4E9-919DEE21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2381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4CD75-A32E-431A-80A2-9A2B6FA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Calendly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CE528-C905-4BBD-8FF6-2D07B609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051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0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3E5A2-C21B-49B6-A682-FC504663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527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A76B"/>
                </a:solidFill>
              </a:defRPr>
            </a:pPr>
            <a:r>
              <a:rPr sz="900" b="1">
                <a:solidFill>
                  <a:srgbClr val="20A76B"/>
                </a:solidFill>
              </a:rPr>
              <a:t>VERBUNDEN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1356D-C5F9-4EB3-8686-9C6DA1CF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2381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9F329-4629-4B7E-B58C-E829DF90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Dialfire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F3361-E7AD-440A-A492-72E6F2DF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95725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0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E4C3B-85FC-4EA5-98CC-EFE748DF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9433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A76B"/>
                </a:solidFill>
              </a:defRPr>
            </a:pPr>
            <a:r>
              <a:rPr sz="900" b="1">
                <a:solidFill>
                  <a:srgbClr val="20A76B"/>
                </a:solidFill>
              </a:rPr>
              <a:t>VERBUNDEN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B1ABA-AF50-40C7-BFE2-3AE08877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2381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D9C3E-B281-4E34-842D-73B090D3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CSV-Import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10F3B0-9236-4530-9B02-F96186D9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8630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D65F9-1275-4D0C-9F8E-71170A06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339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MANUELL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F0AD8B-CEE3-4C49-8E71-64DB118D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147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E9F9A"/>
                </a:solidFill>
              </a:defRPr>
            </a:pPr>
            <a:r>
              <a:rPr sz="3150" b="1">
                <a:solidFill>
                  <a:srgbClr val="0E9F9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D4BBD-C465-489B-AD43-5E98EADC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05075"/>
            <a:ext cx="39052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FE6423-6676-4AF0-AF5F-D28BAB70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8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C3D0F5-DD48-4733-9B48-FCD96658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67025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ZENTRALE AKTE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A4C6F8-CD4D-45A5-A64F-461E1C0B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432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Kontakt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87D1DF-C13D-4DE5-BA1C-3292B470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433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Daten · Prozess · Aufgaben</a:t>
            </a:r>
          </a:p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Aktivitäten · Dokumente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61FCEF-A7CB-462B-A61E-A43329F9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E9F9A"/>
                </a:solidFill>
              </a:defRPr>
            </a:pPr>
            <a:r>
              <a:rPr sz="3150" b="1">
                <a:solidFill>
                  <a:srgbClr val="0E9F9A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1E3120-45BF-4960-B171-2C35E2FC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24574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A6FB2-A92A-4543-AB2B-82246ADA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955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Placetel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A945F5-3FF4-4E08-8EA7-267F1C10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050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Anruf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388CB6-E89C-4872-8F86-16FF7ED8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62275"/>
            <a:ext cx="24574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535369-4CA0-450D-9D56-7F99CD5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86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E-Mail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77A4CE-1D22-417A-AE81-64B54D4A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956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Vorlagen + Anhänge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A93877-FC76-4B05-9E40-B2FE7D0B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52850"/>
            <a:ext cx="24574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C9EEA3-3943-4FC3-83AA-5FA8269B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766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Google Drive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8C2BAE-34AE-4860-AC54-FD97FBC0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862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Dokumentablage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901C57-9CFB-4046-93C7-4263E6B6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43425"/>
            <a:ext cx="24574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9651BB-62CF-40FB-AA16-68E0CEB6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67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KlickTipp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DDDD54-8EE5-411F-8217-54CE04C7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67677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Marketing-Sync</a:t>
            </a:r>
          </a:p>
        </p:txBody>
      </p:sp>
    </p:spTree>
    <p:extLst>
      <p:ext uri="{BB962C8B-B14F-4D97-AF65-F5344CB8AC3E}">
        <p14:creationId xmlns:p14="http://schemas.microsoft.com/office/powerpoint/2010/main" val="5389738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E13E5-9968-49DB-95FD-14BE3E0B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A"/>
                </a:solidFill>
              </a:defRPr>
            </a:pPr>
            <a:r>
              <a:rPr sz="825" b="1">
                <a:solidFill>
                  <a:srgbClr val="0E9F9A"/>
                </a:solidFill>
              </a:rPr>
              <a:t>QUALITÄTSSICHERUNG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16122-E4CA-4F5E-8183-020C007D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Teststand und Pipeline-Status unterscheiden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B6D06-8A93-4857-AC90-A3CA5088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Die Anwendung ist nutzbar; die aktuelle Automatisierung erreicht die Tests jedoch nicht.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D9751-7C8A-4BCB-92F9-199ED1F8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SENTIMENTAL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C7136-BABF-4475-8EC8-499A302B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ANWENDUNGSSTAND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7A45A-5EFF-42F2-AFE4-84FB5242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77EA4-2387-44DA-8E89-A4089E92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49720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C7D9B-0512-41E8-8A2C-77D95318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000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0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A3F5-09A9-4128-8DDD-B66D0D00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A76B"/>
                </a:solidFill>
              </a:defRPr>
            </a:pPr>
            <a:r>
              <a:rPr sz="900" b="1">
                <a:solidFill>
                  <a:srgbClr val="20A76B"/>
                </a:solidFill>
              </a:rPr>
              <a:t>LETZTER VOLLSTÄNDIGER LAUF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718DA-5F2F-43DC-BF5D-FAE57C32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11 / 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872D1-23A4-4D4D-B6FE-D0634084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Tests erfolgreich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EC4D9-4B07-4E47-9ABF-EDBAEFFF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20. Juli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C56AF-B384-4CE8-B14F-24C71CB8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409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8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5B716-3E02-4316-8583-FE3773D3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FACHLICH GRÜN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7C697-EC2F-464E-80D0-07E8D3A2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58483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A6F3A-A794-4C18-A21F-A12CD0FF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1866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B4AAF-2C58-492A-9FDA-AEC0750F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0507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5F"/>
                </a:solidFill>
              </a:defRPr>
            </a:pPr>
            <a:r>
              <a:rPr sz="900" b="1">
                <a:solidFill>
                  <a:srgbClr val="FF6B5F"/>
                </a:solidFill>
              </a:rPr>
              <a:t>AKTUELLER AUTOMATIKLAUF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932DE-EE8D-425E-A1AE-7C497EE8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Blockiert vor Teststart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C7534-00ED-4E6E-BDEC-8E697824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623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Die Testfallsteuerung antwortet mit HTTP 401.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Dadurch werden keine Playwright-Szenarien gestartet.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3B690E-F066-4FDD-AF3A-0A565F2C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958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3D8E1-6EBD-45A5-BDDA-2C0A98DC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863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5F"/>
                </a:solidFill>
              </a:defRPr>
            </a:pPr>
            <a:r>
              <a:rPr sz="900" b="1">
                <a:solidFill>
                  <a:srgbClr val="FF6B5F"/>
                </a:solidFill>
              </a:rPr>
              <a:t>Wichtig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42622-9216-4D7E-A0D4-DC4A7C1B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4820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Der aktuelle rote Lauf weist keinen fachlichen Fehler in einem Testfall nach.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084E9-5E66-4B70-8BCE-29696A61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38800"/>
            <a:ext cx="7372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F2D80-5B9B-4145-9F2B-E8B13950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86425"/>
            <a:ext cx="729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NÄCHSTER SCHRITT: ZUGRIFF REPARIEREN + NEU LAUFEN LASSEN</a:t>
            </a:r>
          </a:p>
        </p:txBody>
      </p:sp>
    </p:spTree>
    <p:extLst>
      <p:ext uri="{BB962C8B-B14F-4D97-AF65-F5344CB8AC3E}">
        <p14:creationId xmlns:p14="http://schemas.microsoft.com/office/powerpoint/2010/main" val="10272996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AAFF91-4BDE-420B-A728-A242CD85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A"/>
                </a:solidFill>
              </a:defRPr>
            </a:pPr>
            <a:r>
              <a:rPr sz="825" b="1">
                <a:solidFill>
                  <a:srgbClr val="0E9F9A"/>
                </a:solidFill>
              </a:rPr>
              <a:t>EINFÜHRUNG DES KEY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4143B-F886-41AE-B26A-E00EC350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Lernen an echten Arbeitsfällen – mit klarer Rückkopplung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64099-9A93-4398-837F-78F22955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Der Key User wird nicht nur geschult, sondern prägt den künftigen Arbeitsstandard.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EA41D-6792-46BA-9A0C-6DA327D9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SENTIMENTAL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88451-92F3-448C-98DB-02321EF1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ANWENDUNGSSTAND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F826B-34D2-4137-9146-11465984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EF0F3-1593-499D-8AA7-DC97C31F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1125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CCED6-4774-4B52-8AE3-2C0BD1AC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45A12-3A35-40C0-AC0D-113FC0AD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61E93-D1ED-45C5-AA3A-6ED35C65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47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Orientierung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EF956-4DFD-4EBD-9D8D-622A6F49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574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Dashboard, Navigation und Hilfe kennenlernen.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69A7F-A9E5-4318-B351-4CD8C54E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76475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717EE-0904-4377-A40B-97D8861D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241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30 MIN.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0DD46-CEF6-4B4C-A45A-5175FAE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11125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3CC3F-9DF9-4870-8204-B95672AB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8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F06D2F-7EE4-42F5-9236-E7FDD7A0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451BC-DBC5-44C8-BE0D-0F262325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24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Geführter Fall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8451B-65B4-45E9-B3A5-66804FC9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337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Einen markierten Pilotkontakt vollständig bearbeiten.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C6C5D-C1FA-4DC7-A696-69376290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52775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64EFE-1686-4A5C-B0D1-7B92E8DB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2004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60 MIN.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46EC5-B970-4529-A34A-665A4D71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11125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7D1A6-1C20-4140-90A3-0234B10F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B584A-B40A-4592-828A-A5F98D19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D56C9-1E6E-40C6-B2F7-A0DD2054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Eigene Praxis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3D8DE0-8C6C-43E1-B2B5-3B7209E7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100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Mehrere reale Vorgänge selbstständig durchführen.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EBE8B0-009F-43FD-BE2D-351BECA5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29075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DEACC0-1813-42BE-B740-46CDED31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767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 WOCHE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19DA6-46E6-48E4-A264-E766518D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6C55BA-B11C-4382-8496-C564D979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553D58-F639-4ADA-AED8-3DA4138E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237E04-7CA0-4052-9516-4BCD6A46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Feedback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F6523E-15F5-4D04-86AE-F1154992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863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Reibungspunkte priorisieren und Testfälle ergänzen.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626E95-413F-4586-AF55-2742A043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05375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18E23A-D8B6-4FEF-BD88-CF3993DE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9530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30 MIN.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3D352F-3DF7-4F2C-8812-B75EF659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9A"/>
                </a:solidFill>
              </a:defRPr>
            </a:pPr>
            <a:r>
              <a:rPr sz="900" b="1">
                <a:solidFill>
                  <a:srgbClr val="0E9F9A"/>
                </a:solidFill>
              </a:rPr>
              <a:t>Erfolgskriterium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B5AA7B-80B0-47B5-B309-74BFEF3C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Der Key User kann einen Kontakt ohne Begleitung vom Tagesfokus bis zur Wiedervorlage bearbeiten.</a:t>
            </a:r>
          </a:p>
        </p:txBody>
      </p:sp>
    </p:spTree>
    <p:extLst>
      <p:ext uri="{BB962C8B-B14F-4D97-AF65-F5344CB8AC3E}">
        <p14:creationId xmlns:p14="http://schemas.microsoft.com/office/powerpoint/2010/main" val="13767817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D6B9B-C37A-4D07-9D25-3E50FE81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8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BBB05-0F51-4788-8FFE-8DBE0028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FAZIT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A4AF2-38B2-45FA-872F-D629F382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619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Bereit für die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Key-User-Phase.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554E9-2DF2-47AD-A95C-B28D45F5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600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CBD5E1"/>
                </a:solidFill>
              </a:rPr>
              <a:t>Die zentralen Arbeitsabläufe sind vorhanden. Jetzt geht es darum, den Alltag des Anwenders abzubilden, die Nutzung zu erproben und die Regressionstests wieder verlässlich auszuführen.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57F3C-A7F0-47BB-8096-E311B753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579CD-9789-48B2-9C96-674D8D1E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8BCDE-F589-4EEC-93C8-C515CC3E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38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Testpipeline entsperren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57BB0-8FF4-42C8-BCF1-7DFA8CB9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62525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06FF4-6A88-487F-A9BC-C7D93F83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2885F-6003-49F3-BD8B-5B649466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91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Key-User-Einführung durchführen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5407E-17D5-4161-8DF7-40EF8AC4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41C91-E6F8-4606-A435-AFA3043E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36238-80A0-4A8C-AFAF-98D1AC4D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435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Feedback in Testfälle übersetzen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2D9C4-3EB7-4A01-A749-0B987A7F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76300"/>
            <a:ext cx="4000500" cy="4857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E853A-8F77-44F1-99C5-DD248E43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76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9A"/>
                </a:solidFill>
              </a:defRPr>
            </a:pPr>
            <a:r>
              <a:rPr sz="900" b="1">
                <a:solidFill>
                  <a:srgbClr val="0E9F9A"/>
                </a:solidFill>
              </a:rPr>
              <a:t>Die Leitfrage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8B66F-E4BC-453E-A46F-8F7F8013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95475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220"/>
                </a:solidFill>
              </a:defRPr>
            </a:pPr>
            <a:r>
              <a:rPr sz="2400" b="1">
                <a:solidFill>
                  <a:srgbClr val="0B1220"/>
                </a:solidFill>
              </a:rPr>
              <a:t>Was braucht der Key User, um morgen selbstständig damit zu arbeiten?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4740D-E3E1-4859-84B1-C1217D6C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48150"/>
            <a:ext cx="2667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FB21B-AF1D-4637-826B-0C2289FD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434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Diese Frage steuert die nächste Ausbaustufe.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004BD-356D-432E-98EB-487C7B5C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SENTIMENTAL LOGIC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03F4B-0A8E-48B1-A5BA-EE94122A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68504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2026-07-28T08:14:47.3050000Z</dcterms:created>
  <dcterms:modified xsi:type="dcterms:W3CDTF">2026-07-28T08:14:47.3050000Z</dcterms:modified>
</coreProperties>
</file>